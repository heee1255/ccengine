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c878463d6f6428a" /><Relationship Type="http://schemas.openxmlformats.org/officeDocument/2006/relationships/extended-properties" Target="/docProps/app.xml" Id="R8150fc0d98d34613" /><Relationship Type="http://schemas.openxmlformats.org/officeDocument/2006/relationships/officeDocument" Target="/ppt/presentation.xml" Id="R921a39de9767415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8c1e93b567d4859"/>
  </p:sldMasterIdLst>
  <p:notesMasterIdLst>
    <p:notesMasterId xmlns:r="http://schemas.openxmlformats.org/officeDocument/2006/relationships" r:id="R533d8f95b7124d07"/>
  </p:notesMasterIdLst>
  <p:sldIdLst>
    <p:sldId xmlns:r="http://schemas.openxmlformats.org/officeDocument/2006/relationships" id="256" r:id="R3bd51025d8de41cb"/>
    <p:sldId xmlns:r="http://schemas.openxmlformats.org/officeDocument/2006/relationships" id="257" r:id="Ra88e43719bc040a7"/>
    <p:sldId xmlns:r="http://schemas.openxmlformats.org/officeDocument/2006/relationships" id="258" r:id="R2fbdf2bf8edf4467"/>
    <p:sldId xmlns:r="http://schemas.openxmlformats.org/officeDocument/2006/relationships" id="259" r:id="R8e4ca9abae81416b"/>
    <p:sldId xmlns:r="http://schemas.openxmlformats.org/officeDocument/2006/relationships" id="260" r:id="Rb73f1f8693054d4f"/>
    <p:sldId xmlns:r="http://schemas.openxmlformats.org/officeDocument/2006/relationships" id="261" r:id="Rf56a5eaf3439421b"/>
    <p:sldId xmlns:r="http://schemas.openxmlformats.org/officeDocument/2006/relationships" id="262" r:id="Re5c43e4bf9414db2"/>
    <p:sldId xmlns:r="http://schemas.openxmlformats.org/officeDocument/2006/relationships" id="263" r:id="Rb98fa7a868d04bfa"/>
    <p:sldId xmlns:r="http://schemas.openxmlformats.org/officeDocument/2006/relationships" id="264" r:id="R6a4046c32acd478b"/>
    <p:sldId xmlns:r="http://schemas.openxmlformats.org/officeDocument/2006/relationships" id="265" r:id="Rf854d814f7a345f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b1bb896826149b7" /><Relationship Type="http://schemas.openxmlformats.org/officeDocument/2006/relationships/slideMaster" Target="/ppt/slideMasters/slideMaster1.xml" Id="R08c1e93b567d4859" /><Relationship Type="http://schemas.openxmlformats.org/officeDocument/2006/relationships/notesMaster" Target="/ppt/notesMasters/notesMaster1.xml" Id="R533d8f95b7124d07" /><Relationship Type="http://schemas.openxmlformats.org/officeDocument/2006/relationships/presProps" Target="/ppt/presProps.xml" Id="Rb0314574aca24671" /><Relationship Type="http://schemas.openxmlformats.org/officeDocument/2006/relationships/tableStyles" Target="/ppt/tableStyles.xml" Id="Rc84836e824d64e22" /><Relationship Type="http://schemas.openxmlformats.org/officeDocument/2006/relationships/slide" Target="/ppt/slides/slide1.xml" Id="R3bd51025d8de41cb" /><Relationship Type="http://schemas.openxmlformats.org/officeDocument/2006/relationships/slide" Target="/ppt/slides/slide2.xml" Id="Ra88e43719bc040a7" /><Relationship Type="http://schemas.openxmlformats.org/officeDocument/2006/relationships/slide" Target="/ppt/slides/slide3.xml" Id="R2fbdf2bf8edf4467" /><Relationship Type="http://schemas.openxmlformats.org/officeDocument/2006/relationships/slide" Target="/ppt/slides/slide4.xml" Id="R8e4ca9abae81416b" /><Relationship Type="http://schemas.openxmlformats.org/officeDocument/2006/relationships/slide" Target="/ppt/slides/slide5.xml" Id="Rb73f1f8693054d4f" /><Relationship Type="http://schemas.openxmlformats.org/officeDocument/2006/relationships/slide" Target="/ppt/slides/slide6.xml" Id="Rf56a5eaf3439421b" /><Relationship Type="http://schemas.openxmlformats.org/officeDocument/2006/relationships/slide" Target="/ppt/slides/slide7.xml" Id="Re5c43e4bf9414db2" /><Relationship Type="http://schemas.openxmlformats.org/officeDocument/2006/relationships/slide" Target="/ppt/slides/slide8.xml" Id="Rb98fa7a868d04bfa" /><Relationship Type="http://schemas.openxmlformats.org/officeDocument/2006/relationships/slide" Target="/ppt/slides/slide9.xml" Id="R6a4046c32acd478b" /><Relationship Type="http://schemas.openxmlformats.org/officeDocument/2006/relationships/slide" Target="/ppt/slides/slide10.xml" Id="Rf854d814f7a345f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555da8638054f0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2cf42a2bb65497e" /><Relationship Type="http://schemas.openxmlformats.org/officeDocument/2006/relationships/notesMaster" Target="/ppt/notesMasters/notesMaster1.xml" Id="Re48361056b174cf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33d92d044d0498a" /><Relationship Type="http://schemas.openxmlformats.org/officeDocument/2006/relationships/notesMaster" Target="/ppt/notesMasters/notesMaster1.xml" Id="R402333117051438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a9e5847ab7b4fae" /><Relationship Type="http://schemas.openxmlformats.org/officeDocument/2006/relationships/notesMaster" Target="/ppt/notesMasters/notesMaster1.xml" Id="Ra613793e8fc3466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0510862c900437a" /><Relationship Type="http://schemas.openxmlformats.org/officeDocument/2006/relationships/notesMaster" Target="/ppt/notesMasters/notesMaster1.xml" Id="R04b5e3cd16ca4c8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302366802b947b2" /><Relationship Type="http://schemas.openxmlformats.org/officeDocument/2006/relationships/notesMaster" Target="/ppt/notesMasters/notesMaster1.xml" Id="Rb2325f18bf0145c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4d958b19f354009" /><Relationship Type="http://schemas.openxmlformats.org/officeDocument/2006/relationships/notesMaster" Target="/ppt/notesMasters/notesMaster1.xml" Id="R5e0c8866743b44d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c4055e300c74790" /><Relationship Type="http://schemas.openxmlformats.org/officeDocument/2006/relationships/notesMaster" Target="/ppt/notesMasters/notesMaster1.xml" Id="R08c6562191d445c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282d30657db4e6b" /><Relationship Type="http://schemas.openxmlformats.org/officeDocument/2006/relationships/notesMaster" Target="/ppt/notesMasters/notesMaster1.xml" Id="R7914cc9cf7a8450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3a4864a14c246b5" /><Relationship Type="http://schemas.openxmlformats.org/officeDocument/2006/relationships/notesMaster" Target="/ppt/notesMasters/notesMaster1.xml" Id="R684296ca28bb435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27ad121893f4977" /><Relationship Type="http://schemas.openxmlformats.org/officeDocument/2006/relationships/notesMaster" Target="/ppt/notesMasters/notesMaster1.xml" Id="R290528347dd04fa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3d5bf34435478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72da39413ec488a" /><Relationship Type="http://schemas.openxmlformats.org/officeDocument/2006/relationships/slideLayout" Target="/ppt/slideLayouts/slideLayout1.xml" Id="R9e53db6e70dc4ff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e53db6e70dc4ff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62cd8d96e14a46" /><Relationship Type="http://schemas.openxmlformats.org/officeDocument/2006/relationships/notesSlide" Target="/ppt/notesSlides/notesSlide1.xml" Id="Rf9c8f9fbd964402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f9022f1e1748eb" /><Relationship Type="http://schemas.openxmlformats.org/officeDocument/2006/relationships/notesSlide" Target="/ppt/notesSlides/notesSlide2.xml" Id="R1bea76626c62430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cac35e05c949ce" /><Relationship Type="http://schemas.openxmlformats.org/officeDocument/2006/relationships/notesSlide" Target="/ppt/notesSlides/notesSlide3.xml" Id="R353dd46a0fa740e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ee4fc24c734be8" /><Relationship Type="http://schemas.openxmlformats.org/officeDocument/2006/relationships/notesSlide" Target="/ppt/notesSlides/notesSlide4.xml" Id="R93bda913bb41456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2b8e2143bf4c0f" /><Relationship Type="http://schemas.openxmlformats.org/officeDocument/2006/relationships/notesSlide" Target="/ppt/notesSlides/notesSlide5.xml" Id="Re1f437db8bb0449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45ad20fb2a4f13" /><Relationship Type="http://schemas.openxmlformats.org/officeDocument/2006/relationships/notesSlide" Target="/ppt/notesSlides/notesSlide6.xml" Id="Rff484ae1833342d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27483a2ad94251" /><Relationship Type="http://schemas.openxmlformats.org/officeDocument/2006/relationships/notesSlide" Target="/ppt/notesSlides/notesSlide7.xml" Id="Rfb369e7242624ea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1c4abab0c94142" /><Relationship Type="http://schemas.openxmlformats.org/officeDocument/2006/relationships/notesSlide" Target="/ppt/notesSlides/notesSlide8.xml" Id="R3b3aea4241534bd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d9f7818ade4a18" /><Relationship Type="http://schemas.openxmlformats.org/officeDocument/2006/relationships/notesSlide" Target="/ppt/notesSlides/notesSlide9.xml" Id="Rce3824790e7c4c1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3667a9d921409f" /><Relationship Type="http://schemas.openxmlformats.org/officeDocument/2006/relationships/notesSlide" Target="/ppt/notesSlides/notesSlide10.xml" Id="R2090676a52a246a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664DA49-4025-4FC8-8F31-9CB2B9E46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A5A5A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5A5A5A"/>
                </a:solidFill>
                <a:latin typeface="Malgun Gothic"/>
                <a:ea typeface="Malgun Gothic"/>
                <a:cs typeface="Malgun Gothic"/>
              </a:rPr>
              <a:t>CCEngine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2D31C0-7497-4C3E-940A-9079DF2ED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95450"/>
            <a:ext cx="6858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49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C# 스크립트</a:t>
            </a:r>
          </a:p>
          <a:p xmlns:a="http://schemas.openxmlformats.org/drawingml/2006/main">
            <a:pPr algn="l">
              <a:defRPr sz="49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49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작성 가이드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75630B-63D8-4339-B26F-4B9AC63FB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71900"/>
            <a:ext cx="723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5A5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A5A5A"/>
                </a:solidFill>
                <a:latin typeface="Malgun Gothic"/>
                <a:ea typeface="Malgun Gothic"/>
                <a:cs typeface="Malgun Gothic"/>
              </a:rPr>
              <a:t>엔진에서 스크립트를 만들고, 컴포넌트로 붙이고, 인스펙터 필드까지 노출하는 기본 사용법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8648E8-5B16-44BF-AFA7-D68136AD2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028700"/>
            <a:ext cx="3429000" cy="428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4C1326-180B-4C2D-81A4-03B83D678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4478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Guide Scope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283B1F-11C1-45FC-8558-B46DAA5EF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81200"/>
            <a:ext cx="2381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- 스크립트 파일 위치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- GameScript 생명주기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- public field와 인스펙터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- 자동 컴파일과 저장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- 씬과 프리팹 저장 방식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A44AD0-8680-4EF7-9DB9-6EF91B36C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6482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5A5A5A"/>
                </a:solidFill>
                <a:latin typeface="Consolas"/>
                <a:ea typeface="Consolas"/>
                <a:cs typeface="Consolas"/>
              </a:rPr>
              <a:t>D:\CCEngine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98C663-67EB-49CB-BA03-235134B96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A5A5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A5A5A"/>
                </a:solidFill>
                <a:latin typeface="Malgun Gothic"/>
                <a:ea typeface="Malgun Gothic"/>
                <a:cs typeface="Malgun Gothic"/>
              </a:rPr>
              <a:t>CCEngine Script Authoring Guide · 01</a:t>
            </a:r>
          </a:p>
        </p:txBody>
      </p:sp>
    </p:spTree>
    <p:extLst>
      <p:ext uri="{BB962C8B-B14F-4D97-AF65-F5344CB8AC3E}">
        <p14:creationId xmlns:p14="http://schemas.microsoft.com/office/powerpoint/2010/main" val="110676510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FA948CF-9D03-4208-8C3B-30C3C24D0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A5A5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A5A5A"/>
                </a:solidFill>
                <a:latin typeface="Malgun Gothic"/>
                <a:ea typeface="Malgun Gothic"/>
                <a:cs typeface="Malgun Gothic"/>
              </a:rPr>
              <a:t>목차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4D7C02-33C9-4D71-A175-A16BFA095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8191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처음 배울 때는 파일 흐름부터 잡으면 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2F2E42-6B66-4624-B4A0-F1E1E86AC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478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F591A9-A80F-47B2-9618-0D259A953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F6FE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F6FED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BFDD65-E239-4F7C-B3C0-AF6C7EAD4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7716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작성 위치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D1653C-3D29-47C0-A7A0-043CCD499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809750"/>
            <a:ext cx="647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A5A5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A5A5A"/>
                </a:solidFill>
                <a:latin typeface="Malgun Gothic"/>
                <a:ea typeface="Malgun Gothic"/>
                <a:cs typeface="Malgun Gothic"/>
              </a:rPr>
              <a:t>Scripts/Game 아래에 게임 스크립트를 둔다.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8DB014-E0F4-4AE6-9703-7F28AB3D0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47900"/>
            <a:ext cx="990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DDD"/>
          </a:solidFill>
          <a:ln xmlns:a="http://schemas.openxmlformats.org/drawingml/2006/main" w="0">
            <a:solidFill>
              <a:srgbClr val="DDDDD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BEC16E-AA9A-4523-A149-906391F13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384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F6FE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F6FED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63D218-87C0-4CB8-8D0A-3FC065AB7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4193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기본 구조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439459-97AA-4C67-B72B-09F043047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457450"/>
            <a:ext cx="647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A5A5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A5A5A"/>
                </a:solidFill>
                <a:latin typeface="Malgun Gothic"/>
                <a:ea typeface="Malgun Gothic"/>
                <a:cs typeface="Malgun Gothic"/>
              </a:rPr>
              <a:t>GameScript를 상속하고 OnCreate, OnUpdate, OnDestroy를 사용한다.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C91577-0FD0-4E69-91E9-779BF2710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95600"/>
            <a:ext cx="990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DDD"/>
          </a:solidFill>
          <a:ln xmlns:a="http://schemas.openxmlformats.org/drawingml/2006/main" w="0">
            <a:solidFill>
              <a:srgbClr val="DDDDD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50540C-C113-4209-A022-A69D73CD8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861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F6FE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F6FED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07C127-67B3-4536-929E-727508356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0670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컴포넌트 연결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3F74F3-EF82-4678-8E70-E57B7AECA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105150"/>
            <a:ext cx="647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A5A5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A5A5A"/>
                </a:solidFill>
                <a:latin typeface="Malgun Gothic"/>
                <a:ea typeface="Malgun Gothic"/>
                <a:cs typeface="Malgun Gothic"/>
              </a:rPr>
              <a:t>Add Component에서 기존 스크립트 또는 새 스크립트를 선택한다.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086775-4A36-4CD8-9AEB-E98B466AE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43300"/>
            <a:ext cx="990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DDD"/>
          </a:solidFill>
          <a:ln xmlns:a="http://schemas.openxmlformats.org/drawingml/2006/main" w="0">
            <a:solidFill>
              <a:srgbClr val="DDDDD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6C8633-FA3F-498D-AF03-66F2656B3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338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F6FE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F6FED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968F50-CCE7-4631-8EBB-267E662B0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147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인스펙터 노출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172BC7-A435-4545-8546-A8924E975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52850"/>
            <a:ext cx="647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A5A5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A5A5A"/>
                </a:solidFill>
                <a:latin typeface="Malgun Gothic"/>
                <a:ea typeface="Malgun Gothic"/>
                <a:cs typeface="Malgun Gothic"/>
              </a:rPr>
              <a:t>public field와 속성으로 입력 UI를 결정한다.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BE45D0-9088-461C-8F2E-DF3C7A7D8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0"/>
            <a:ext cx="990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DDD"/>
          </a:solidFill>
          <a:ln xmlns:a="http://schemas.openxmlformats.org/drawingml/2006/main" w="0">
            <a:solidFill>
              <a:srgbClr val="DDDDD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38DFF4-3324-40EA-A1DD-3CAA35C38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F6FE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F6FED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DDD0CB-46D6-401F-B302-F4A2FFF4C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3624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적용과 저장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32A9E8-B8D9-48DE-922C-AFF5086A2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400550"/>
            <a:ext cx="647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A5A5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A5A5A"/>
                </a:solidFill>
                <a:latin typeface="Malgun Gothic"/>
                <a:ea typeface="Malgun Gothic"/>
                <a:cs typeface="Malgun Gothic"/>
              </a:rPr>
              <a:t>인스펙터 값은 씬과 프리팹에 ScriptComponent 데이터로 저장된다.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201526-55DB-4F82-A536-AE5643A7A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38700"/>
            <a:ext cx="990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DDD"/>
          </a:solidFill>
          <a:ln xmlns:a="http://schemas.openxmlformats.org/drawingml/2006/main" w="0">
            <a:solidFill>
              <a:srgbClr val="DDDDD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5BAEB2-FF43-47D1-B4E5-CDC9BD639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292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F6FE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F6FED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C1E3B3-4435-43A6-83C4-0E7FFB513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0101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사용 흐름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78DD7DA-7C43-424B-BB30-F36AA8DEC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048250"/>
            <a:ext cx="647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A5A5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A5A5A"/>
                </a:solidFill>
                <a:latin typeface="Malgun Gothic"/>
                <a:ea typeface="Malgun Gothic"/>
                <a:cs typeface="Malgun Gothic"/>
              </a:rPr>
              <a:t>작성, 연결, 값 조정, 저장까지의 흐름을 익힌다.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13EC306-BBED-4E4A-8E03-F32EC54AF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86400"/>
            <a:ext cx="990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DDD"/>
          </a:solidFill>
          <a:ln xmlns:a="http://schemas.openxmlformats.org/drawingml/2006/main" w="0">
            <a:solidFill>
              <a:srgbClr val="DDDDD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112772F-0803-416C-8513-775C638AE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A5A5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A5A5A"/>
                </a:solidFill>
                <a:latin typeface="Malgun Gothic"/>
                <a:ea typeface="Malgun Gothic"/>
                <a:cs typeface="Malgun Gothic"/>
              </a:rPr>
              <a:t>CCEngine Script Authoring Guide · 02</a:t>
            </a:r>
          </a:p>
        </p:txBody>
      </p:sp>
    </p:spTree>
    <p:extLst>
      <p:ext uri="{BB962C8B-B14F-4D97-AF65-F5344CB8AC3E}">
        <p14:creationId xmlns:p14="http://schemas.microsoft.com/office/powerpoint/2010/main" val="88987212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A0B7E2B-D89C-4055-8B44-3F80C7674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A5A5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A5A5A"/>
                </a:solidFill>
                <a:latin typeface="Malgun Gothic"/>
                <a:ea typeface="Malgun Gothic"/>
                <a:cs typeface="Malgun Gothic"/>
              </a:rPr>
              <a:t>구조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7466A0-ABF7-4928-835B-895B7FCEB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8191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스크립트는 C# 파일에서 DLL과 manifest로 변환된다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C86778-796A-47AE-8BA8-D8CB699D8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478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729990-7395-4376-8D28-3F3AA987B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24288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6B39D9-0FEE-40D2-B384-FB43A50D6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098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F6FED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2F6FED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3A3ACA-65DC-439F-BFB9-87A6E38A5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228850"/>
            <a:ext cx="15144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C# 소스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96A3F5-5B98-4DED-9DFE-4C207C095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647950"/>
            <a:ext cx="15144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A5A5A"/>
                </a:solidFill>
                <a:latin typeface="Malgun Gothic"/>
                <a:ea typeface="Malgun Gothic"/>
                <a:cs typeface="Malgun Gothic"/>
              </a:rPr>
              <a:t>assets/Scripts/Game/*.cs에 게임 로직을 작성한다.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8A1CCA-5C44-4C10-AE75-C583CD6F4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038350"/>
            <a:ext cx="24288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1B05C6-80EA-4A92-BFA0-C46805313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2098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F6FED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2F6FED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EDD45F-4305-4F16-A1FC-E6F6F7E9C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228850"/>
            <a:ext cx="15144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BuildScripts.ps1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8EAABE-11EE-443F-9A62-01C240358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647950"/>
            <a:ext cx="15144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A5A5A"/>
                </a:solidFill>
                <a:latin typeface="Malgun Gothic"/>
                <a:ea typeface="Malgun Gothic"/>
                <a:cs typeface="Malgun Gothic"/>
              </a:rPr>
              <a:t>ScriptCore와 GameScripts.dll을 컴파일하고 manifest를 만든다.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FBCC56-BEF2-48AE-9803-D5F0956CE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038350"/>
            <a:ext cx="24288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FBF10E-ABCA-4DAF-8A7F-BF2E7CF68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2098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F6FED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2F6FED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8FDC69-E263-4C17-9CCB-C7332CB28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228850"/>
            <a:ext cx="15144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ScriptMetadata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245AF2-BDFF-4C4E-AD1A-DAD703B10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647950"/>
            <a:ext cx="15144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A5A5A"/>
                </a:solidFill>
                <a:latin typeface="Malgun Gothic"/>
                <a:ea typeface="Malgun Gothic"/>
                <a:cs typeface="Malgun Gothic"/>
              </a:rPr>
              <a:t>manifest를 읽어 Add Component 목록과 public field 목록을 구성한다.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D6F525-DB25-418E-9F59-99371C432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038350"/>
            <a:ext cx="24288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8127F9-6CFF-433B-8F13-3EE13F4A0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2098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F6FED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2F6FED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2B1DA8-DCF8-4C94-B972-019C9F31B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228850"/>
            <a:ext cx="15144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ScriptEngine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7182C6-1D1E-4653-B952-0690C18FC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647950"/>
            <a:ext cx="15144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A5A5A"/>
                </a:solidFill>
                <a:latin typeface="Malgun Gothic"/>
                <a:ea typeface="Malgun Gothic"/>
                <a:cs typeface="Malgun Gothic"/>
              </a:rPr>
              <a:t>Play 중 C# 인스턴스를 만들고 OnUpdate를 호출한다.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4D26E4-99E3-4196-81DA-9ECA6B573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6720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현재 자동 감지는 .cs 변경을 발견하면 짧게 기다린 뒤 재컴파일하고, 성공하면 인스펙터를 다시 만든다.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965653-C87A-42C5-96FD-8C1390549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48250"/>
            <a:ext cx="9715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- manifest는 실제 컴파일된 DLL을 읽어서 만든다. 소스 파싱 결과와 어긋나지 않는다.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- 인스펙터는 manifest의 ClassName, Field, Editor 정보를 기준으로 UI를 만든다.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- Play 중 실행되는 값은 ScriptComponent의 FieldOverrides가 C# 인스턴스에 적용된 결과다.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4F431B-B3B5-40B6-BE6C-2F6A789EB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A5A5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A5A5A"/>
                </a:solidFill>
                <a:latin typeface="Malgun Gothic"/>
                <a:ea typeface="Malgun Gothic"/>
                <a:cs typeface="Malgun Gothic"/>
              </a:rPr>
              <a:t>CCEngine Script Authoring Guide · 03</a:t>
            </a:r>
          </a:p>
        </p:txBody>
      </p:sp>
    </p:spTree>
    <p:extLst>
      <p:ext uri="{BB962C8B-B14F-4D97-AF65-F5344CB8AC3E}">
        <p14:creationId xmlns:p14="http://schemas.microsoft.com/office/powerpoint/2010/main" val="122046552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458FA6B-29E3-4A14-B2CE-426B0D881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A5A5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A5A5A"/>
                </a:solidFill>
                <a:latin typeface="Malgun Gothic"/>
                <a:ea typeface="Malgun Gothic"/>
                <a:cs typeface="Malgun Gothic"/>
              </a:rPr>
              <a:t>파일 구조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5E4ACF-B831-44AF-BEA5-CE02C1560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8191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게임 스크립트는 Game 폴더에 두는 것이 기본 규칙이다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838423-7BA6-4F64-A18F-3AA80E8E6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478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F59075-C68C-499D-87EC-5BAC49E06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487680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91F"/>
          </a:solidFill>
          <a:ln xmlns:a="http://schemas.openxmlformats.org/drawingml/2006/main" w="9525">
            <a:solidFill>
              <a:srgbClr val="2B31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EB3B3D-681A-4544-A1F6-BF5C83BB6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38350"/>
            <a:ext cx="44577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8EDF5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8EDF5"/>
                </a:solidFill>
                <a:latin typeface="Consolas"/>
                <a:ea typeface="Consolas"/>
                <a:cs typeface="Consolas"/>
              </a:rPr>
              <a:t>Sandbox/assets/Scripts</a:t>
            </a:r>
          </a:p>
          <a:p xmlns:a="http://schemas.openxmlformats.org/drawingml/2006/main">
            <a:pPr algn="l">
              <a:defRPr sz="1350" b="0">
                <a:solidFill>
                  <a:srgbClr val="E8EDF5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8EDF5"/>
                </a:solidFill>
                <a:latin typeface="Consolas"/>
                <a:ea typeface="Consolas"/>
                <a:cs typeface="Consolas"/>
              </a:rPr>
              <a:t>├─ ScriptCore/</a:t>
            </a:r>
          </a:p>
          <a:p xmlns:a="http://schemas.openxmlformats.org/drawingml/2006/main">
            <a:pPr algn="l">
              <a:defRPr sz="1350" b="0">
                <a:solidFill>
                  <a:srgbClr val="E8EDF5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8EDF5"/>
                </a:solidFill>
                <a:latin typeface="Consolas"/>
                <a:ea typeface="Consolas"/>
                <a:cs typeface="Consolas"/>
              </a:rPr>
              <a:t>│  └─ ScriptCore.cs</a:t>
            </a:r>
          </a:p>
          <a:p xmlns:a="http://schemas.openxmlformats.org/drawingml/2006/main">
            <a:pPr algn="l">
              <a:defRPr sz="1350" b="0">
                <a:solidFill>
                  <a:srgbClr val="E8EDF5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8EDF5"/>
                </a:solidFill>
                <a:latin typeface="Consolas"/>
                <a:ea typeface="Consolas"/>
                <a:cs typeface="Consolas"/>
              </a:rPr>
              <a:t>├─ Game/</a:t>
            </a:r>
          </a:p>
          <a:p xmlns:a="http://schemas.openxmlformats.org/drawingml/2006/main">
            <a:pPr algn="l">
              <a:defRPr sz="1350" b="0">
                <a:solidFill>
                  <a:srgbClr val="E8EDF5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8EDF5"/>
                </a:solidFill>
                <a:latin typeface="Consolas"/>
                <a:ea typeface="Consolas"/>
                <a:cs typeface="Consolas"/>
              </a:rPr>
              <a:t>│  ├─ CubeMove.cs</a:t>
            </a:r>
          </a:p>
          <a:p xmlns:a="http://schemas.openxmlformats.org/drawingml/2006/main">
            <a:pPr algn="l">
              <a:defRPr sz="1350" b="0">
                <a:solidFill>
                  <a:srgbClr val="E8EDF5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8EDF5"/>
                </a:solidFill>
                <a:latin typeface="Consolas"/>
                <a:ea typeface="Consolas"/>
                <a:cs typeface="Consolas"/>
              </a:rPr>
              <a:t>│  └─ MyNewScript.cs</a:t>
            </a:r>
          </a:p>
          <a:p xmlns:a="http://schemas.openxmlformats.org/drawingml/2006/main">
            <a:pPr algn="l">
              <a:defRPr sz="1350" b="0">
                <a:solidFill>
                  <a:srgbClr val="E8EDF5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8EDF5"/>
                </a:solidFill>
                <a:latin typeface="Consolas"/>
                <a:ea typeface="Consolas"/>
                <a:cs typeface="Consolas"/>
              </a:rPr>
              <a:t>├─ Build/</a:t>
            </a:r>
          </a:p>
          <a:p xmlns:a="http://schemas.openxmlformats.org/drawingml/2006/main">
            <a:pPr algn="l">
              <a:defRPr sz="1350" b="0">
                <a:solidFill>
                  <a:srgbClr val="E8EDF5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8EDF5"/>
                </a:solidFill>
                <a:latin typeface="Consolas"/>
                <a:ea typeface="Consolas"/>
                <a:cs typeface="Consolas"/>
              </a:rPr>
              <a:t>│  ├─ CCEngine.ScriptCore.dll</a:t>
            </a:r>
          </a:p>
          <a:p xmlns:a="http://schemas.openxmlformats.org/drawingml/2006/main">
            <a:pPr algn="l">
              <a:defRPr sz="1350" b="0">
                <a:solidFill>
                  <a:srgbClr val="E8EDF5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8EDF5"/>
                </a:solidFill>
                <a:latin typeface="Consolas"/>
                <a:ea typeface="Consolas"/>
                <a:cs typeface="Consolas"/>
              </a:rPr>
              <a:t>│  ├─ GameScripts.dll</a:t>
            </a:r>
          </a:p>
          <a:p xmlns:a="http://schemas.openxmlformats.org/drawingml/2006/main">
            <a:pPr algn="l">
              <a:defRPr sz="1350" b="0">
                <a:solidFill>
                  <a:srgbClr val="E8EDF5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8EDF5"/>
                </a:solidFill>
                <a:latin typeface="Consolas"/>
                <a:ea typeface="Consolas"/>
                <a:cs typeface="Consolas"/>
              </a:rPr>
              <a:t>│  └─ GameScripts.manifest.json</a:t>
            </a:r>
          </a:p>
          <a:p xmlns:a="http://schemas.openxmlformats.org/drawingml/2006/main">
            <a:pPr algn="l">
              <a:defRPr sz="1350" b="0">
                <a:solidFill>
                  <a:srgbClr val="E8EDF5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8EDF5"/>
                </a:solidFill>
                <a:latin typeface="Consolas"/>
                <a:ea typeface="Consolas"/>
                <a:cs typeface="Consolas"/>
              </a:rPr>
              <a:t>└─ BuildScripts.ps1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30FCBC-C429-4F6E-BD68-FB3AAC4DA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85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작성 규칙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69BF06-29C5-4941-AA60-99BF818BA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81250"/>
            <a:ext cx="4762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- 직접 작성하는 스크립트는 Game 폴더에 둔다.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- 클래스는 public 또는 public sealed class로 선언한다.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- 반드시 CCEngine.GameScript를 상속한다.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- namespace Game을 쓰면 Add Component에서 Game.ClassName으로 잡힌다.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- ScriptCore는 엔진 API 영역이므로 일반 게임 로직을 넣지 않는다.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9FA4CE-A8F7-4F06-890D-6BB9833B6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3395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EC"/>
          </a:solidFill>
          <a:ln xmlns:a="http://schemas.openxmlformats.org/drawingml/2006/main" w="9525">
            <a:solidFill>
              <a:srgbClr val="ECEC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3F5264-7401-4E8F-A3EB-7448FE8BA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000625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권장: Game.PlayerMove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38B63C-A160-4F71-8954-F0A8D394D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933950"/>
            <a:ext cx="276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2D8"/>
          </a:solidFill>
          <a:ln xmlns:a="http://schemas.openxmlformats.org/drawingml/2006/main" w="9525">
            <a:solidFill>
              <a:srgbClr val="F1E2D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77ADBD-6A24-4726-9C60-760511B19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5000625"/>
            <a:ext cx="2533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86B2C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C86B2C"/>
                </a:solidFill>
                <a:latin typeface="Malgun Gothic"/>
                <a:ea typeface="Malgun Gothic"/>
                <a:cs typeface="Malgun Gothic"/>
              </a:rPr>
              <a:t>비권장: ScriptCore에 게임 코드 추가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02BBF5-7A7F-4B5E-963A-FBFDC696C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A5A5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A5A5A"/>
                </a:solidFill>
                <a:latin typeface="Malgun Gothic"/>
                <a:ea typeface="Malgun Gothic"/>
                <a:cs typeface="Malgun Gothic"/>
              </a:rPr>
              <a:t>CCEngine Script Authoring Guide · 04</a:t>
            </a:r>
          </a:p>
        </p:txBody>
      </p:sp>
    </p:spTree>
    <p:extLst>
      <p:ext uri="{BB962C8B-B14F-4D97-AF65-F5344CB8AC3E}">
        <p14:creationId xmlns:p14="http://schemas.microsoft.com/office/powerpoint/2010/main" val="93144462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82BD978-EC9F-48AC-BE85-462234711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A5A5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A5A5A"/>
                </a:solidFill>
                <a:latin typeface="Malgun Gothic"/>
                <a:ea typeface="Malgun Gothic"/>
                <a:cs typeface="Malgun Gothic"/>
              </a:rPr>
              <a:t>작성 시작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C3F12A-FE8B-4950-BFBD-008A2D77E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8191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새 스크립트는 Add Component에서 만들거나 파일로 직접 추가한다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45A892-2FE8-4091-8A2E-8990DE230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478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739EDC-8FAE-4307-8ED5-24DDE6A86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3238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BC69FA-6925-42B9-A4FD-8F44750AC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145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F6FED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2F6FED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9747E9-72E0-4A39-8310-9C35E434A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33600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오브젝트 선택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9FD120-D2EB-47E2-ADCC-E21D9B2B5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52700"/>
            <a:ext cx="23241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A5A5A"/>
                </a:solidFill>
                <a:latin typeface="Malgun Gothic"/>
                <a:ea typeface="Malgun Gothic"/>
                <a:cs typeface="Malgun Gothic"/>
              </a:rPr>
              <a:t>하이어라키에서 스크립트를 붙일 게임 오브젝트를 선택한다.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78FE91-4E82-46BA-AE82-19E49A247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943100"/>
            <a:ext cx="3238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528B33-058D-4DDB-844D-9EFF949B8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1145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F6FED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2F6FED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88128F-D8D9-4898-8AA8-3E75A78BF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133600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Add Component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0DBF37-76F7-4093-9A6F-2D4FA08BF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552700"/>
            <a:ext cx="23241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A5A5A"/>
                </a:solidFill>
                <a:latin typeface="Malgun Gothic"/>
                <a:ea typeface="Malgun Gothic"/>
                <a:cs typeface="Malgun Gothic"/>
              </a:rPr>
              <a:t>Inspector의 Add Component에서 New C# Script를 선택하거나 기존 스크립트를 고른다.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B12666-29AD-464D-B907-4EA21F5A5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943100"/>
            <a:ext cx="3238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824746-D380-4A63-8073-8208A4FA6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1145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F6FED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2F6FED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2B02D8-F620-4708-A58E-18E73FB3D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133600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자동 컴파일 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DAB103-31C4-469B-9968-4DD14012C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552700"/>
            <a:ext cx="23241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A5A5A"/>
                </a:solidFill>
                <a:latin typeface="Malgun Gothic"/>
                <a:ea typeface="Malgun Gothic"/>
                <a:cs typeface="Malgun Gothic"/>
              </a:rPr>
              <a:t>파일 저장 후 콘솔의 컴파일 성공 로그와 인스펙터 필드 갱신을 확인한다.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08D724-849F-4584-8780-A000BB54E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14800"/>
            <a:ext cx="99250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4BA72C-5096-45CF-87F6-6E857DB98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3053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상용 엔진식 사용 흐름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DC83E8-B0B2-42B4-B421-6DE4CD72F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667250"/>
            <a:ext cx="895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A5A5A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5A5A5A"/>
                </a:solidFill>
                <a:latin typeface="Malgun Gothic"/>
                <a:ea typeface="Malgun Gothic"/>
                <a:cs typeface="Malgun Gothic"/>
              </a:rPr>
              <a:t>에디터에서 스크립트 생성 → 템플릿 코드 작성 → 저장 → 자동 빌드 → Add Component 목록과 인스펙터 필드 갱신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4802EA-4072-40A9-8D3E-26AFC223E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2578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이미 존재하는 스크립트는 Add Component 목록에서 검색하거나 페이지 이동으로 선택한다.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26A661-A776-478E-A1D9-834ED2C7B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A5A5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A5A5A"/>
                </a:solidFill>
                <a:latin typeface="Malgun Gothic"/>
                <a:ea typeface="Malgun Gothic"/>
                <a:cs typeface="Malgun Gothic"/>
              </a:rPr>
              <a:t>CCEngine Script Authoring Guide · 05</a:t>
            </a:r>
          </a:p>
        </p:txBody>
      </p:sp>
    </p:spTree>
    <p:extLst>
      <p:ext uri="{BB962C8B-B14F-4D97-AF65-F5344CB8AC3E}">
        <p14:creationId xmlns:p14="http://schemas.microsoft.com/office/powerpoint/2010/main" val="84539919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F91EF0E-9E3F-42FF-88B7-6BDC58A66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A5A5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A5A5A"/>
                </a:solidFill>
                <a:latin typeface="Malgun Gothic"/>
                <a:ea typeface="Malgun Gothic"/>
                <a:cs typeface="Malgun Gothic"/>
              </a:rPr>
              <a:t>기본 예제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FDD83F-8117-4EC6-A5F5-0D4B62B34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8191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가장 작은 스크립트는 GameScript 상속과 OnUpdate만으로 충분하다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9978DB-31CF-42A4-B04F-054DE25F0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478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512E60-DA56-4AB8-B486-E051055DC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66900"/>
            <a:ext cx="5810250" cy="384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91F"/>
          </a:solidFill>
          <a:ln xmlns:a="http://schemas.openxmlformats.org/drawingml/2006/main" w="9525">
            <a:solidFill>
              <a:srgbClr val="2B31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CA6ECF-2A5A-427B-9072-89E166C11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38350"/>
            <a:ext cx="539115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8EDF5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8EDF5"/>
                </a:solidFill>
                <a:latin typeface="Consolas"/>
                <a:ea typeface="Consolas"/>
                <a:cs typeface="Consolas"/>
              </a:rPr>
              <a:t>using CCEngine;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E8EDF5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8EDF5"/>
                </a:solidFill>
                <a:latin typeface="Consolas"/>
                <a:ea typeface="Consolas"/>
                <a:cs typeface="Consolas"/>
              </a:rPr>
              <a:t>namespace Game</a:t>
            </a:r>
          </a:p>
          <a:p xmlns:a="http://schemas.openxmlformats.org/drawingml/2006/main">
            <a:pPr algn="l">
              <a:defRPr sz="1275" b="0">
                <a:solidFill>
                  <a:srgbClr val="E8EDF5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8EDF5"/>
                </a:solidFill>
                <a:latin typeface="Consolas"/>
                <a:ea typeface="Consolas"/>
                <a:cs typeface="Consolas"/>
              </a:rPr>
              <a:t>{</a:t>
            </a:r>
          </a:p>
          <a:p xmlns:a="http://schemas.openxmlformats.org/drawingml/2006/main">
            <a:pPr algn="l">
              <a:defRPr sz="1275" b="0">
                <a:solidFill>
                  <a:srgbClr val="E8EDF5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8EDF5"/>
                </a:solidFill>
                <a:latin typeface="Consolas"/>
                <a:ea typeface="Consolas"/>
                <a:cs typeface="Consolas"/>
              </a:rPr>
              <a:t>    public sealed class MoveUp : GameScript</a:t>
            </a:r>
          </a:p>
          <a:p xmlns:a="http://schemas.openxmlformats.org/drawingml/2006/main">
            <a:pPr algn="l">
              <a:defRPr sz="1275" b="0">
                <a:solidFill>
                  <a:srgbClr val="E8EDF5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8EDF5"/>
                </a:solidFill>
                <a:latin typeface="Consolas"/>
                <a:ea typeface="Consolas"/>
                <a:cs typeface="Consolas"/>
              </a:rPr>
              <a:t>    {</a:t>
            </a:r>
          </a:p>
          <a:p xmlns:a="http://schemas.openxmlformats.org/drawingml/2006/main">
            <a:pPr algn="l">
              <a:defRPr sz="1275" b="0">
                <a:solidFill>
                  <a:srgbClr val="E8EDF5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8EDF5"/>
                </a:solidFill>
                <a:latin typeface="Consolas"/>
                <a:ea typeface="Consolas"/>
                <a:cs typeface="Consolas"/>
              </a:rPr>
              <a:t>        public float Speed = 1.0f;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E8EDF5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8EDF5"/>
                </a:solidFill>
                <a:latin typeface="Consolas"/>
                <a:ea typeface="Consolas"/>
                <a:cs typeface="Consolas"/>
              </a:rPr>
              <a:t>        protected override void OnUpdate(float deltaTime)</a:t>
            </a:r>
          </a:p>
          <a:p xmlns:a="http://schemas.openxmlformats.org/drawingml/2006/main">
            <a:pPr algn="l">
              <a:defRPr sz="1275" b="0">
                <a:solidFill>
                  <a:srgbClr val="E8EDF5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8EDF5"/>
                </a:solidFill>
                <a:latin typeface="Consolas"/>
                <a:ea typeface="Consolas"/>
                <a:cs typeface="Consolas"/>
              </a:rPr>
              <a:t>        {</a:t>
            </a:r>
          </a:p>
          <a:p xmlns:a="http://schemas.openxmlformats.org/drawingml/2006/main">
            <a:pPr algn="l">
              <a:defRPr sz="1275" b="0">
                <a:solidFill>
                  <a:srgbClr val="E8EDF5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8EDF5"/>
                </a:solidFill>
                <a:latin typeface="Consolas"/>
                <a:ea typeface="Consolas"/>
                <a:cs typeface="Consolas"/>
              </a:rPr>
              <a:t>            Translation += new Vector3(0.0f, Speed * deltaTime, 0.0f);</a:t>
            </a:r>
          </a:p>
          <a:p xmlns:a="http://schemas.openxmlformats.org/drawingml/2006/main">
            <a:pPr algn="l">
              <a:defRPr sz="1275" b="0">
                <a:solidFill>
                  <a:srgbClr val="E8EDF5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8EDF5"/>
                </a:solidFill>
                <a:latin typeface="Consolas"/>
                <a:ea typeface="Consolas"/>
                <a:cs typeface="Consolas"/>
              </a:rPr>
              <a:t>        }</a:t>
            </a:r>
          </a:p>
          <a:p xmlns:a="http://schemas.openxmlformats.org/drawingml/2006/main">
            <a:pPr algn="l">
              <a:defRPr sz="1275" b="0">
                <a:solidFill>
                  <a:srgbClr val="E8EDF5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8EDF5"/>
                </a:solidFill>
                <a:latin typeface="Consolas"/>
                <a:ea typeface="Consolas"/>
                <a:cs typeface="Consolas"/>
              </a:rPr>
              <a:t>    }</a:t>
            </a:r>
          </a:p>
          <a:p xmlns:a="http://schemas.openxmlformats.org/drawingml/2006/main">
            <a:pPr algn="l">
              <a:defRPr sz="1275" b="0">
                <a:solidFill>
                  <a:srgbClr val="E8EDF5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8EDF5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FCC8DB-B3D9-44D8-A9BE-20545ECF6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8859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핵심 포인트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1DC513-CFC1-420D-9CA4-2C168226E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381250"/>
            <a:ext cx="4095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- Translation은 현재 엔티티의 Transform Position과 연결된다.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- deltaTime을 곱해야 프레임률이 달라도 같은 속도로 움직인다.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- public float Speed는 인스펙터에 노출된다.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- Play를 누르면 엔진이 C# 인스턴스를 만들고 OnUpdate를 호출한다.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8122F4-ED52-4E2C-B391-86480DEA8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895850"/>
            <a:ext cx="4095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B8C9F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9DD977-FA52-4B1D-B517-551A065EC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0292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6FE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2F6FED"/>
                </a:solidFill>
                <a:latin typeface="Malgun Gothic"/>
                <a:ea typeface="Malgun Gothic"/>
                <a:cs typeface="Malgun Gothic"/>
              </a:rPr>
              <a:t>사용 결과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C6A000-0EFD-4A62-A908-CD16FE894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2959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Speed 값은 인스펙터에서 조정할 수 있고, Play 중 이동 속도에 사용된다.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07032D-B3BC-445B-AA07-995BA9C86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A5A5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A5A5A"/>
                </a:solidFill>
                <a:latin typeface="Malgun Gothic"/>
                <a:ea typeface="Malgun Gothic"/>
                <a:cs typeface="Malgun Gothic"/>
              </a:rPr>
              <a:t>CCEngine Script Authoring Guide · 06</a:t>
            </a:r>
          </a:p>
        </p:txBody>
      </p:sp>
    </p:spTree>
    <p:extLst>
      <p:ext uri="{BB962C8B-B14F-4D97-AF65-F5344CB8AC3E}">
        <p14:creationId xmlns:p14="http://schemas.microsoft.com/office/powerpoint/2010/main" val="39666026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AF85775-84EC-4BF8-A2A7-4C4005E99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A5A5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A5A5A"/>
                </a:solidFill>
                <a:latin typeface="Malgun Gothic"/>
                <a:ea typeface="Malgun Gothic"/>
                <a:cs typeface="Malgun Gothic"/>
              </a:rPr>
              <a:t>생명주기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D9901A-8DF1-45AB-A921-6A0FA7B5C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8191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생명주기는 생성, 매 프레임, 제거 순서로 생각한다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72D61D-C74F-4697-8F7B-D87CAF95C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478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991EDC-400B-48F9-858B-3FE0E618F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32385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1C84D3-6F4D-478D-B22E-015D7F02E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88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OnCreate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471C8E-8502-418E-9F52-5AFC17CBA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19400"/>
            <a:ext cx="26860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A5A5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A5A5A"/>
                </a:solidFill>
                <a:latin typeface="Malgun Gothic"/>
                <a:ea typeface="Malgun Gothic"/>
                <a:cs typeface="Malgun Gothic"/>
              </a:rPr>
              <a:t>Play가 시작되어 스크립트 인스턴스가 만들어질 때 한 번 호출된다.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73D081-AAD6-497D-B059-7202A1B39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52850"/>
            <a:ext cx="2705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0">
            <a:solidFill>
              <a:srgbClr val="D8D8D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3805EE-2D74-47C9-A686-762F5F6E6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814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6FE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F6FED"/>
                </a:solidFill>
                <a:latin typeface="Malgun Gothic"/>
                <a:ea typeface="Malgun Gothic"/>
                <a:cs typeface="Malgun Gothic"/>
              </a:rPr>
              <a:t>주 사용처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E8C627-1A5F-43C6-90CB-BBD5414DC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05300"/>
            <a:ext cx="2686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초기 위치 저장, 참조 준비, 시작 로그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99526F-95A9-427B-A66A-56687B80C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62150"/>
            <a:ext cx="32385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F05E76-299F-40A4-9804-ECC279195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2288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OnUpdate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76C5B1-9361-4359-A661-A034AAB16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819400"/>
            <a:ext cx="26860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A5A5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A5A5A"/>
                </a:solidFill>
                <a:latin typeface="Malgun Gothic"/>
                <a:ea typeface="Malgun Gothic"/>
                <a:cs typeface="Malgun Gothic"/>
              </a:rPr>
              <a:t>Play 중 매 프레임 호출된다. deltaTime으로 시간 기반 이동을 만든다.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B23348-DF02-49AA-9399-ADD2B8DE0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752850"/>
            <a:ext cx="2705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0">
            <a:solidFill>
              <a:srgbClr val="D8D8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A852A0-A364-428B-BC6B-636F8FA31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9814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6FE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F6FED"/>
                </a:solidFill>
                <a:latin typeface="Malgun Gothic"/>
                <a:ea typeface="Malgun Gothic"/>
                <a:cs typeface="Malgun Gothic"/>
              </a:rPr>
              <a:t>주 사용처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B36C95-AD4E-429B-921F-33E9220A9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305300"/>
            <a:ext cx="2686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이동, 회전, 입력 처리, 조건 검사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448360-4885-4587-B9FE-5B09A17CA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962150"/>
            <a:ext cx="32385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948EC1-61A5-48E5-B4EF-9A79B8381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2288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OnDestroy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AADAD9-240C-4F9E-9BB4-8C070DCE9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819400"/>
            <a:ext cx="26860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A5A5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A5A5A"/>
                </a:solidFill>
                <a:latin typeface="Malgun Gothic"/>
                <a:ea typeface="Malgun Gothic"/>
                <a:cs typeface="Malgun Gothic"/>
              </a:rPr>
              <a:t>Play가 끝나거나 스크립트 인스턴스가 제거될 때 한 번 호출된다.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CB4369-54F0-44EA-89A5-CA820D370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752850"/>
            <a:ext cx="2705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0">
            <a:solidFill>
              <a:srgbClr val="D8D8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B3C1BE-FEA4-4679-9515-6AFCA182A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9814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6FE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F6FED"/>
                </a:solidFill>
                <a:latin typeface="Malgun Gothic"/>
                <a:ea typeface="Malgun Gothic"/>
                <a:cs typeface="Malgun Gothic"/>
              </a:rPr>
              <a:t>주 사용처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B60B01-C533-4E96-97D6-9ABED1475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305300"/>
            <a:ext cx="2686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정리 로그, 임시 상태 해제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6CAEC0-CE01-4C4C-8A32-1A0520ECB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3400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현재 API는 Transform Translation과 Log를 중심으로 시작되어 있다. 필요 API는 ScriptCore에 안전하게 추가해 확장한다.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05AFD6-9541-4D58-9DD7-D468E56D1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A5A5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A5A5A"/>
                </a:solidFill>
                <a:latin typeface="Malgun Gothic"/>
                <a:ea typeface="Malgun Gothic"/>
                <a:cs typeface="Malgun Gothic"/>
              </a:rPr>
              <a:t>CCEngine Script Authoring Guide · 07</a:t>
            </a:r>
          </a:p>
        </p:txBody>
      </p:sp>
    </p:spTree>
    <p:extLst>
      <p:ext uri="{BB962C8B-B14F-4D97-AF65-F5344CB8AC3E}">
        <p14:creationId xmlns:p14="http://schemas.microsoft.com/office/powerpoint/2010/main" val="208829637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F7F4CE9-2567-4513-A0FE-A734EFB40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A5A5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A5A5A"/>
                </a:solidFill>
                <a:latin typeface="Malgun Gothic"/>
                <a:ea typeface="Malgun Gothic"/>
                <a:cs typeface="Malgun Gothic"/>
              </a:rPr>
              <a:t>인스펙터 노출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D5CCF8-F432-46EC-AD90-9EA9B8570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8191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public field는 인스펙터 입력 UI가 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232554-2A69-44E6-82B2-D36872469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478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AA87E9-5A38-41C3-BB8A-0BA6D0F24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47850"/>
            <a:ext cx="6096000" cy="403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91F"/>
          </a:solidFill>
          <a:ln xmlns:a="http://schemas.openxmlformats.org/drawingml/2006/main" w="9525">
            <a:solidFill>
              <a:srgbClr val="2B31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F680F1-D5A2-4A3B-85C2-65EB03081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19300"/>
            <a:ext cx="5676900" cy="369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8ED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DF5"/>
                </a:solidFill>
                <a:latin typeface="Consolas"/>
                <a:ea typeface="Consolas"/>
                <a:cs typeface="Consolas"/>
              </a:rPr>
              <a:t>public float Speed = 1.0f;          // 직접 입력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E8ED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DF5"/>
                </a:solidFill>
                <a:latin typeface="Consolas"/>
                <a:ea typeface="Consolas"/>
                <a:cs typeface="Consolas"/>
              </a:rPr>
              <a:t>[Range(0.0f, 10.0f)]</a:t>
            </a:r>
          </a:p>
          <a:p xmlns:a="http://schemas.openxmlformats.org/drawingml/2006/main">
            <a:pPr algn="l">
              <a:defRPr sz="1200" b="0">
                <a:solidFill>
                  <a:srgbClr val="E8ED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DF5"/>
                </a:solidFill>
                <a:latin typeface="Consolas"/>
                <a:ea typeface="Consolas"/>
                <a:cs typeface="Consolas"/>
              </a:rPr>
              <a:t>public float Speed = 1.0f;          // 슬라이더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E8ED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DF5"/>
                </a:solidFill>
                <a:latin typeface="Consolas"/>
                <a:ea typeface="Consolas"/>
                <a:cs typeface="Consolas"/>
              </a:rPr>
              <a:t>[Drag(0.1f)]</a:t>
            </a:r>
          </a:p>
          <a:p xmlns:a="http://schemas.openxmlformats.org/drawingml/2006/main">
            <a:pPr algn="l">
              <a:defRPr sz="1200" b="0">
                <a:solidFill>
                  <a:srgbClr val="E8ED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DF5"/>
                </a:solidFill>
                <a:latin typeface="Consolas"/>
                <a:ea typeface="Consolas"/>
                <a:cs typeface="Consolas"/>
              </a:rPr>
              <a:t>public float TurnSpeed = 2.0f;      // 드래그 조절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E8ED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DF5"/>
                </a:solidFill>
                <a:latin typeface="Consolas"/>
                <a:ea typeface="Consolas"/>
                <a:cs typeface="Consolas"/>
              </a:rPr>
              <a:t>[Step(1)]</a:t>
            </a:r>
          </a:p>
          <a:p xmlns:a="http://schemas.openxmlformats.org/drawingml/2006/main">
            <a:pPr algn="l">
              <a:defRPr sz="1200" b="0">
                <a:solidFill>
                  <a:srgbClr val="E8ED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DF5"/>
                </a:solidFill>
                <a:latin typeface="Consolas"/>
                <a:ea typeface="Consolas"/>
                <a:cs typeface="Consolas"/>
              </a:rPr>
              <a:t>public int Health = 100;            // - / + 버튼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E8ED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DF5"/>
                </a:solidFill>
                <a:latin typeface="Consolas"/>
                <a:ea typeface="Consolas"/>
                <a:cs typeface="Consolas"/>
              </a:rPr>
              <a:t>[ReadOnly]</a:t>
            </a:r>
          </a:p>
          <a:p xmlns:a="http://schemas.openxmlformats.org/drawingml/2006/main">
            <a:pPr algn="l">
              <a:defRPr sz="1200" b="0">
                <a:solidFill>
                  <a:srgbClr val="E8ED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DF5"/>
                </a:solidFill>
                <a:latin typeface="Consolas"/>
                <a:ea typeface="Consolas"/>
                <a:cs typeface="Consolas"/>
              </a:rPr>
              <a:t>public float RuntimeValue = 0.0f;   // 표시 전용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A1AB7B-FAD0-417A-8144-684A9EBAD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8859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필드 노출 규칙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661283-0E36-4BDC-B7A8-F96934C66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419350"/>
            <a:ext cx="39052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- 지원 타입: float, int, bool, string, Vector3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- private field는 인스펙터에 노출하지 않는다.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- 속성은 manifest에 저장되어 UI 생성 기준이 된다.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- 씬과 프리팹은 FieldOverrides를 저장해 기본값과 다른 값만 유지한다.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8A8C5A-37F7-416B-A273-B717DF989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572000"/>
            <a:ext cx="3905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9"/>
          </a:solidFill>
          <a:ln xmlns:a="http://schemas.openxmlformats.org/drawingml/2006/main" w="9525">
            <a:solidFill>
              <a:srgbClr val="E2C28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ECCF41-D437-4E30-AF11-12189DE83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7053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86B2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C86B2C"/>
                </a:solidFill>
                <a:latin typeface="Malgun Gothic"/>
                <a:ea typeface="Malgun Gothic"/>
                <a:cs typeface="Malgun Gothic"/>
              </a:rPr>
              <a:t>주의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9D31D9-ADC6-4B2B-BAB5-37254CCCE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9720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필드 이름을 바꾸면 기존 저장값과 연결이 끊길 수 있다. 이름 변경은 의도적으로 한다.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E746A2-1509-4EF9-93B5-2C95AC1A8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A5A5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A5A5A"/>
                </a:solidFill>
                <a:latin typeface="Malgun Gothic"/>
                <a:ea typeface="Malgun Gothic"/>
                <a:cs typeface="Malgun Gothic"/>
              </a:rPr>
              <a:t>CCEngine Script Authoring Guide · 08</a:t>
            </a:r>
          </a:p>
        </p:txBody>
      </p:sp>
    </p:spTree>
    <p:extLst>
      <p:ext uri="{BB962C8B-B14F-4D97-AF65-F5344CB8AC3E}">
        <p14:creationId xmlns:p14="http://schemas.microsoft.com/office/powerpoint/2010/main" val="171353653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A2533E6-2225-44C6-A485-06EEF661E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A5A5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A5A5A"/>
                </a:solidFill>
                <a:latin typeface="Malgun Gothic"/>
                <a:ea typeface="Malgun Gothic"/>
                <a:cs typeface="Malgun Gothic"/>
              </a:rPr>
              <a:t>자동 반영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3EE87E-4FCD-42F0-8CFD-8F4EC4EBC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8191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저장하면 자동 컴파일되고 인스펙터가 다시 그려진다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3852E2-0B66-4F79-BEA2-EA21C2B22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478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EEE28E-6AD1-4852-8D59-324FE55A3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85950"/>
            <a:ext cx="103822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6B89B0-C5B0-464F-A92B-32C7DD798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145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저장 감지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2ADEA1-A9FE-438D-91E8-0D9031066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3360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5A5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A5A5A"/>
                </a:solidFill>
                <a:latin typeface="Malgun Gothic"/>
                <a:ea typeface="Malgun Gothic"/>
                <a:cs typeface="Malgun Gothic"/>
              </a:rPr>
              <a:t>ScriptCompiler가 .cs 파일 변경 시간과 파일 목록을 주기적으로 확인한다.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FE1BCE-219D-4E35-8B3A-7C5BE6D9B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13360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2F6FE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F6FED"/>
                </a:solidFill>
                <a:latin typeface="Malgun Gothic"/>
                <a:ea typeface="Malgun Gothic"/>
                <a:cs typeface="Malgun Gothic"/>
              </a:rPr>
              <a:t>400ms 폴링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78760F-88DB-451B-B2AD-C59ABC4DA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14700"/>
            <a:ext cx="103822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14B8E4-C523-499E-9D17-7BFB89069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433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빌드 안정화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EF7A15-A77C-402C-8581-FFB5ED4D0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5623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5A5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A5A5A"/>
                </a:solidFill>
                <a:latin typeface="Malgun Gothic"/>
                <a:ea typeface="Malgun Gothic"/>
                <a:cs typeface="Malgun Gothic"/>
              </a:rPr>
              <a:t>파일 저장 중간 상태를 피하려고 변경 후 700ms 기다린 뒤 BuildScripts.ps1을 실행한다.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1E02F8-1F6E-4F4C-9733-84DE138CD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5623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2F6FE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F6FED"/>
                </a:solidFill>
                <a:latin typeface="Malgun Gothic"/>
                <a:ea typeface="Malgun Gothic"/>
                <a:cs typeface="Malgun Gothic"/>
              </a:rPr>
              <a:t>700ms debounce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8F11B6-CA9F-4D52-BD0D-510AB075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43450"/>
            <a:ext cx="103822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C6A6B5-5B79-4F26-9604-CB87CA5BC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720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인스펙터 갱신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754C61-3E9C-4FD0-988D-C3BBE37EA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99110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5A5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A5A5A"/>
                </a:solidFill>
                <a:latin typeface="Malgun Gothic"/>
                <a:ea typeface="Malgun Gothic"/>
                <a:cs typeface="Malgun Gothic"/>
              </a:rPr>
              <a:t>컴파일 성공 후 ScriptMetadata를 Refresh하고 모든 InspectorPanel을 Rebuild한다.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3A7B9F-6E7E-4CA1-8C3D-2DBC462D9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9911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2F6FE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F6FED"/>
                </a:solidFill>
                <a:latin typeface="Malgun Gothic"/>
                <a:ea typeface="Malgun Gothic"/>
                <a:cs typeface="Malgun Gothic"/>
              </a:rPr>
              <a:t>manifest reload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72EDB8-AE3F-4196-9325-559A0A2A2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A5A5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A5A5A"/>
                </a:solidFill>
                <a:latin typeface="Malgun Gothic"/>
                <a:ea typeface="Malgun Gothic"/>
                <a:cs typeface="Malgun Gothic"/>
              </a:rPr>
              <a:t>CCEngine Script Authoring Guide · 09</a:t>
            </a:r>
          </a:p>
        </p:txBody>
      </p:sp>
    </p:spTree>
    <p:extLst>
      <p:ext uri="{BB962C8B-B14F-4D97-AF65-F5344CB8AC3E}">
        <p14:creationId xmlns:p14="http://schemas.microsoft.com/office/powerpoint/2010/main" val="196960918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6D6E5D4-6253-4A4F-86C2-2F6A0AFE5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A5A5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A5A5A"/>
                </a:solidFill>
                <a:latin typeface="Malgun Gothic"/>
                <a:ea typeface="Malgun Gothic"/>
                <a:cs typeface="Malgun Gothic"/>
              </a:rPr>
              <a:t>저장과 재사용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9DD7A0-0856-4B79-8D38-42949E596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8191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인스펙터에서 바꾼 값은 오브젝트 데이터로 저장된다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0ACDB0-742F-4C5B-8325-CB07E84C3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478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64BCA2-3FCB-44B9-A302-CBE63729C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24050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F6FE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F6FED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E49CC4-4264-4649-A842-A94E52051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9240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ScriptComponent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08725F-5CE1-40A5-9C9F-88430409D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943100"/>
            <a:ext cx="657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A5A5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A5A5A"/>
                </a:solidFill>
                <a:latin typeface="Malgun Gothic"/>
                <a:ea typeface="Malgun Gothic"/>
                <a:cs typeface="Malgun Gothic"/>
              </a:rPr>
              <a:t>오브젝트에는 선택한 C# 클래스 이름과 활성 상태가 저장된다.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E2B2A7-80A2-41DE-A7C4-3E8007336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00300"/>
            <a:ext cx="9620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DDD"/>
          </a:solidFill>
          <a:ln xmlns:a="http://schemas.openxmlformats.org/drawingml/2006/main" w="0">
            <a:solidFill>
              <a:srgbClr val="DDDDD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A5759D-DAF2-41F1-8C48-5BF4C17E1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67000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F6FE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F6FED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FF2E78-1D94-4F1E-A778-A8663934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6670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FieldOverrides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7FCA55-F50D-4B0D-8065-4E6083804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686050"/>
            <a:ext cx="657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A5A5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A5A5A"/>
                </a:solidFill>
                <a:latin typeface="Malgun Gothic"/>
                <a:ea typeface="Malgun Gothic"/>
                <a:cs typeface="Malgun Gothic"/>
              </a:rPr>
              <a:t>인스펙터에서 기본값과 다르게 바꾼 public field 값이 함께 저장된다.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388295-D495-4BA8-8DA9-DC1B4A31E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9620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DDD"/>
          </a:solidFill>
          <a:ln xmlns:a="http://schemas.openxmlformats.org/drawingml/2006/main" w="0">
            <a:solidFill>
              <a:srgbClr val="DDDDD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EC61B9-C219-43DC-BE15-757D26872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09950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F6FE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F6FED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7F8AF9-A6AB-4424-B7FF-206E535AF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4099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Scene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BB6BC8-A948-44A8-A6E1-8082EE8AE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429000"/>
            <a:ext cx="657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A5A5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A5A5A"/>
                </a:solidFill>
                <a:latin typeface="Malgun Gothic"/>
                <a:ea typeface="Malgun Gothic"/>
                <a:cs typeface="Malgun Gothic"/>
              </a:rPr>
              <a:t>씬 저장 시 ScriptComponent가 다른 컴포넌트와 함께 씬 파일에 기록된다.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BE8C29-DAA7-4BD9-B6B8-7F8DDB08D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86200"/>
            <a:ext cx="9620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DDD"/>
          </a:solidFill>
          <a:ln xmlns:a="http://schemas.openxmlformats.org/drawingml/2006/main" w="0">
            <a:solidFill>
              <a:srgbClr val="DDDDD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75DA05-F7D9-4139-87C5-80426CFFA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52900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F6FE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F6FED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C86A0E-1AE7-4449-85A5-389AE3862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1529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Prefab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909F03-FAEB-4FCB-B9EB-3AC47C477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171950"/>
            <a:ext cx="657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A5A5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A5A5A"/>
                </a:solidFill>
                <a:latin typeface="Malgun Gothic"/>
                <a:ea typeface="Malgun Gothic"/>
                <a:cs typeface="Malgun Gothic"/>
              </a:rPr>
              <a:t>프리팹으로 저장하면 스크립트 클래스와 필드 값도 재사용 가능한 형태로 남는다.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859D32-ADF0-403B-A686-E8947888D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29150"/>
            <a:ext cx="9620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DDD"/>
          </a:solidFill>
          <a:ln xmlns:a="http://schemas.openxmlformats.org/drawingml/2006/main" w="0">
            <a:solidFill>
              <a:srgbClr val="DDDDD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846C48-D748-4E70-9291-16D40EE36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95850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F6FE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F6FED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808922-E1E2-4F7D-AC9F-935569316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8958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Play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CCEAF8-87B0-41ED-9E49-6BE6C76CB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914900"/>
            <a:ext cx="657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A5A5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A5A5A"/>
                </a:solidFill>
                <a:latin typeface="Malgun Gothic"/>
                <a:ea typeface="Malgun Gothic"/>
                <a:cs typeface="Malgun Gothic"/>
              </a:rPr>
              <a:t>실행 시 저장된 값이 C# 인스턴스에 먼저 적용되고 OnCreate가 호출된다.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5D2A65-2530-4998-BB78-4A0888523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72100"/>
            <a:ext cx="9620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DDD"/>
          </a:solidFill>
          <a:ln xmlns:a="http://schemas.openxmlformats.org/drawingml/2006/main" w="0">
            <a:solidFill>
              <a:srgbClr val="DDDDD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CD2CF0-D8D0-4BFA-A938-955CDD08B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A5A5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A5A5A"/>
                </a:solidFill>
                <a:latin typeface="Malgun Gothic"/>
                <a:ea typeface="Malgun Gothic"/>
                <a:cs typeface="Malgun Gothic"/>
              </a:rPr>
              <a:t>CCEngine Script Authoring Guide · 10</a:t>
            </a:r>
          </a:p>
        </p:txBody>
      </p:sp>
    </p:spTree>
    <p:extLst>
      <p:ext uri="{BB962C8B-B14F-4D97-AF65-F5344CB8AC3E}">
        <p14:creationId xmlns:p14="http://schemas.microsoft.com/office/powerpoint/2010/main" val="12950744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2026-07-13T04:02:59.5370000Z</dcterms:created>
  <dcterms:modified xsi:type="dcterms:W3CDTF">2026-07-13T04:02:59.5370000Z</dcterms:modified>
</coreProperties>
</file>